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2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t>1. 研究背景と「学術的な問い」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B365D"/>
                </a:solidFill>
              </a:defRPr>
            </a:pPr>
            <a:r>
              <a:t>【研究背景】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・ 工場や現場環境におけるハンズフリー音声操作の需要が拡大。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・ M5Stack（ESP32）等のエッジマイコンは計算リソースが極めて制限されており、AIノイズ除去処理の単体実行が不可能。</a:t>
            </a:r>
          </a:p>
          <a:p>
            <a:pPr>
              <a:defRPr sz="1600">
                <a:solidFill>
                  <a:srgbClr val="282828"/>
                </a:solidFill>
              </a:defRPr>
            </a:pPr>
            <a:r>
              <a:t>・ 従来の音量判定だけでは、環境騒音や他人の話し声による「音声検知の誤作動（偽陽性）」が多発する。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657600"/>
            <a:ext cx="10728655" cy="2286000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E37222"/>
                </a:solidFill>
              </a:defRPr>
            </a:pPr>
            <a:r>
              <a:rPr dirty="0">
                <a:solidFill>
                  <a:sysClr val="windowText" lastClr="000000"/>
                </a:solidFill>
              </a:rPr>
              <a:t>【</a:t>
            </a:r>
            <a:r>
              <a:rPr dirty="0" err="1">
                <a:solidFill>
                  <a:sysClr val="windowText" lastClr="000000"/>
                </a:solidFill>
              </a:rPr>
              <a:t>学術的な問い</a:t>
            </a:r>
            <a:r>
              <a:rPr dirty="0">
                <a:solidFill>
                  <a:sysClr val="windowText" lastClr="000000"/>
                </a:solidFill>
              </a:rPr>
              <a:t>】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rPr dirty="0">
                <a:solidFill>
                  <a:sysClr val="windowText" lastClr="000000"/>
                </a:solidFill>
              </a:rPr>
              <a:t>「</a:t>
            </a:r>
            <a:r>
              <a:rPr dirty="0" err="1">
                <a:solidFill>
                  <a:sysClr val="windowText" lastClr="000000"/>
                </a:solidFill>
              </a:rPr>
              <a:t>計算リソースが極めて制限されたエッジ環境において、物理空間情報である『BLE電波強度（RSSI</a:t>
            </a:r>
            <a:r>
              <a:rPr dirty="0">
                <a:solidFill>
                  <a:sysClr val="windowText" lastClr="000000"/>
                </a:solidFill>
              </a:rPr>
              <a:t>）』</a:t>
            </a:r>
            <a:r>
              <a:rPr dirty="0" err="1">
                <a:solidFill>
                  <a:sysClr val="windowText" lastClr="000000"/>
                </a:solidFill>
              </a:rPr>
              <a:t>と『音声周波数特徴（人声帯域</a:t>
            </a:r>
            <a:r>
              <a:rPr dirty="0">
                <a:solidFill>
                  <a:sysClr val="windowText" lastClr="000000"/>
                </a:solidFill>
              </a:rPr>
              <a:t>）』</a:t>
            </a:r>
            <a:r>
              <a:rPr dirty="0" err="1">
                <a:solidFill>
                  <a:sysClr val="windowText" lastClr="000000"/>
                </a:solidFill>
              </a:rPr>
              <a:t>をマルチモーダルに結合・制御することで、計算負荷を高めずに音声誤検知率を削減</a:t>
            </a:r>
            <a:r>
              <a:rPr lang="ja-JP" altLang="en-US">
                <a:solidFill>
                  <a:sysClr val="windowText" lastClr="000000"/>
                </a:solidFill>
              </a:rPr>
              <a:t>し、認識精度をどこまで高めることができるか</a:t>
            </a:r>
            <a:r>
              <a:rPr dirty="0">
                <a:solidFill>
                  <a:sysClr val="windowText" lastClr="000000"/>
                </a:solidFill>
              </a:rPr>
              <a:t>？」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rPr dirty="0"/>
              <a:t>2. </a:t>
            </a:r>
            <a:r>
              <a:rPr dirty="0" err="1"/>
              <a:t>提案手法：マルチモーダル判定モデルとシステム構成</a:t>
            </a:r>
            <a:endParaRPr dirty="0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70ED944C-8237-F86F-00DA-BE2AF89C6674}"/>
              </a:ext>
            </a:extLst>
          </p:cNvPr>
          <p:cNvSpPr/>
          <p:nvPr/>
        </p:nvSpPr>
        <p:spPr>
          <a:xfrm>
            <a:off x="1290918" y="1936377"/>
            <a:ext cx="2646381" cy="118334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BLE </a:t>
            </a:r>
            <a:r>
              <a:rPr kumimoji="1" lang="ja-JP" altLang="en-US"/>
              <a:t>電波強度判定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8D1C4789-0D5C-7BF5-A9C7-CAB9A1477031}"/>
              </a:ext>
            </a:extLst>
          </p:cNvPr>
          <p:cNvSpPr/>
          <p:nvPr/>
        </p:nvSpPr>
        <p:spPr>
          <a:xfrm>
            <a:off x="1290918" y="4012602"/>
            <a:ext cx="2646381" cy="118334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音声声域判定</a:t>
            </a:r>
          </a:p>
        </p:txBody>
      </p:sp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922A2EBB-4891-F333-F1F6-96F22456622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937299" y="2528048"/>
            <a:ext cx="2173943" cy="108652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カギ線コネクタ 13">
            <a:extLst>
              <a:ext uri="{FF2B5EF4-FFF2-40B4-BE49-F238E27FC236}">
                <a16:creationId xmlns:a16="http://schemas.microsoft.com/office/drawing/2014/main" id="{9762E010-D671-D7CD-4D1E-F4BE19798633}"/>
              </a:ext>
            </a:extLst>
          </p:cNvPr>
          <p:cNvCxnSpPr>
            <a:cxnSpLocks/>
          </p:cNvCxnSpPr>
          <p:nvPr/>
        </p:nvCxnSpPr>
        <p:spPr>
          <a:xfrm flipV="1">
            <a:off x="3937299" y="3614569"/>
            <a:ext cx="2143461" cy="9897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48A3CF22-3714-AB62-223A-47A2DD73534A}"/>
              </a:ext>
            </a:extLst>
          </p:cNvPr>
          <p:cNvSpPr/>
          <p:nvPr/>
        </p:nvSpPr>
        <p:spPr>
          <a:xfrm>
            <a:off x="6111242" y="3022899"/>
            <a:ext cx="2646381" cy="118334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音声認識・解析</a:t>
            </a:r>
            <a:endParaRPr kumimoji="1" lang="en-US" altLang="ja-JP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D5428DD-737D-3333-0525-8AB2F8FF3CA9}"/>
              </a:ext>
            </a:extLst>
          </p:cNvPr>
          <p:cNvSpPr txBox="1"/>
          <p:nvPr/>
        </p:nvSpPr>
        <p:spPr>
          <a:xfrm>
            <a:off x="2162287" y="5719495"/>
            <a:ext cx="991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M5Stack</a:t>
            </a:r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189291E-E88F-2F3F-1EF6-AF89CE105795}"/>
              </a:ext>
            </a:extLst>
          </p:cNvPr>
          <p:cNvSpPr txBox="1"/>
          <p:nvPr/>
        </p:nvSpPr>
        <p:spPr>
          <a:xfrm>
            <a:off x="6765525" y="5719495"/>
            <a:ext cx="1535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Python</a:t>
            </a:r>
            <a:r>
              <a:rPr kumimoji="1" lang="ja-JP" altLang="en-US"/>
              <a:t>サーバ</a:t>
            </a: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BA501175-06B0-6DC8-13D9-011BD4BB2FC5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8757623" y="3614570"/>
            <a:ext cx="4401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A280F61B-AB90-E8CF-9E38-E91FB350FFDB}"/>
              </a:ext>
            </a:extLst>
          </p:cNvPr>
          <p:cNvSpPr/>
          <p:nvPr/>
        </p:nvSpPr>
        <p:spPr>
          <a:xfrm>
            <a:off x="9197788" y="3022899"/>
            <a:ext cx="2646381" cy="118334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/>
              <a:t>データベースに保存</a:t>
            </a:r>
            <a:endParaRPr kumimoji="1" lang="en-US" altLang="ja-JP" dirty="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B12EB0F-1B19-D580-46FF-0F672BBF15BE}"/>
              </a:ext>
            </a:extLst>
          </p:cNvPr>
          <p:cNvSpPr txBox="1"/>
          <p:nvPr/>
        </p:nvSpPr>
        <p:spPr>
          <a:xfrm>
            <a:off x="6948561" y="4277971"/>
            <a:ext cx="971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Whisper</a:t>
            </a:r>
            <a:endParaRPr kumimoji="1" lang="ja-JP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365D"/>
                </a:solidFill>
              </a:defRPr>
            </a:pPr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今後の研究計画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2248349" y="1662056"/>
            <a:ext cx="2468880" cy="548640"/>
          </a:xfrm>
          <a:prstGeom prst="roundRect">
            <a:avLst/>
          </a:prstGeom>
          <a:solidFill>
            <a:srgbClr val="E372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9月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8349" y="2286000"/>
            <a:ext cx="2468880" cy="3657600"/>
          </a:xfrm>
          <a:prstGeom prst="roundRect">
            <a:avLst/>
          </a:prstGeom>
          <a:solidFill>
            <a:srgbClr val="F5F7FA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365D"/>
                </a:solidFill>
              </a:defRPr>
            </a:pPr>
            <a:r>
              <a:rPr dirty="0" err="1"/>
              <a:t>マルチタスク構築</a:t>
            </a:r>
            <a:r>
              <a:rPr dirty="0"/>
              <a:t> </a:t>
            </a:r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 err="1"/>
              <a:t>BLEスキャンおよび排他制御マルチタスクの基盤実装</a:t>
            </a:r>
            <a:endParaRPr lang="en-US" dirty="0"/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lang="ja-JP" altLang="en-US"/>
              <a:t>ノイズフィルタリング機能を実装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861560" y="1645920"/>
            <a:ext cx="2468880" cy="548640"/>
          </a:xfrm>
          <a:prstGeom prst="roundRect">
            <a:avLst/>
          </a:prstGeom>
          <a:solidFill>
            <a:srgbClr val="1B36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10月</a:t>
            </a:r>
            <a:r>
              <a:rPr lang="en-US" altLang="ja-JP" dirty="0"/>
              <a:t>〜12</a:t>
            </a:r>
            <a:r>
              <a:rPr lang="ja-JP" altLang="en-US"/>
              <a:t>月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4861560" y="2286000"/>
            <a:ext cx="2468880" cy="3657600"/>
          </a:xfrm>
          <a:prstGeom prst="roundRect">
            <a:avLst/>
          </a:prstGeom>
          <a:solidFill>
            <a:srgbClr val="F5F7FA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365D"/>
                </a:solidFill>
              </a:defRPr>
            </a:pPr>
            <a:r>
              <a:rPr dirty="0" err="1"/>
              <a:t>実環境での定量評価</a:t>
            </a:r>
            <a:endParaRPr dirty="0"/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 err="1"/>
              <a:t>騒音環境（機械音</a:t>
            </a:r>
            <a:r>
              <a:rPr dirty="0"/>
              <a:t>/</a:t>
            </a:r>
            <a:r>
              <a:rPr dirty="0" err="1"/>
              <a:t>話し声）における適合率・再現率の測定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7474771" y="1662056"/>
            <a:ext cx="2468880" cy="548640"/>
          </a:xfrm>
          <a:prstGeom prst="roundRect">
            <a:avLst/>
          </a:prstGeom>
          <a:solidFill>
            <a:srgbClr val="1B365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rPr dirty="0"/>
              <a:t>1月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74771" y="2286000"/>
            <a:ext cx="2468880" cy="3657600"/>
          </a:xfrm>
          <a:prstGeom prst="roundRect">
            <a:avLst/>
          </a:prstGeom>
          <a:solidFill>
            <a:srgbClr val="F5F7FA"/>
          </a:solidFill>
          <a:ln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B365D"/>
                </a:solidFill>
              </a:defRPr>
            </a:pPr>
            <a:r>
              <a:rPr dirty="0" err="1"/>
              <a:t>最終発表</a:t>
            </a:r>
            <a:endParaRPr dirty="0"/>
          </a:p>
          <a:p>
            <a:pPr>
              <a:defRPr sz="1300">
                <a:solidFill>
                  <a:srgbClr val="282828"/>
                </a:solidFill>
              </a:defRPr>
            </a:pPr>
            <a:r>
              <a:rPr dirty="0" err="1"/>
              <a:t>評価データのグラフ化</a:t>
            </a:r>
            <a:r>
              <a:rPr lang="ja-JP" altLang="en-US"/>
              <a:t>、</a:t>
            </a:r>
            <a:r>
              <a:rPr dirty="0" err="1"/>
              <a:t>発表準備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138</Words>
  <Application>Microsoft Macintosh PowerPoint</Application>
  <PresentationFormat>ワイド画面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内山敦也</cp:lastModifiedBy>
  <cp:revision>7</cp:revision>
  <dcterms:created xsi:type="dcterms:W3CDTF">2013-01-27T09:14:16Z</dcterms:created>
  <dcterms:modified xsi:type="dcterms:W3CDTF">2026-09-16T04:49:15Z</dcterms:modified>
  <cp:category/>
</cp:coreProperties>
</file>